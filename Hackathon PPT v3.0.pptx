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62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81"/>
  </p:normalViewPr>
  <p:slideViewPr>
    <p:cSldViewPr snapToGrid="0">
      <p:cViewPr varScale="1">
        <p:scale>
          <a:sx n="90" d="100"/>
          <a:sy n="90" d="100"/>
        </p:scale>
        <p:origin x="2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DACF-DE75-1518-3848-C29EE6CD1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4DA16-E170-FF45-2581-F573C5FA5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A5A4C-D4D1-44CE-4422-F7C7902E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95A8-EC95-BEBB-4E6D-7B30A9E8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F745F-0BAD-6D2C-5BE5-1BC46DDC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77D4-965B-DBD0-EB74-CF8B12BF3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CE8C-A374-D177-65B6-20383B939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94AA-B1E7-562A-9F2B-E64E9CC9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2A0C5-AECC-77AB-40A9-F945DDD1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922D-606D-62F3-FABB-46CF8F53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6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90BD-7E4D-1191-50C6-1F2F3203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686EF-CABB-00C0-68EF-F3708D7A7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25A95-D6D8-DCBE-2941-C55E6463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0929-7B92-59C0-5392-BAC8EE25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3863-7928-FF4C-75D2-06DBC2F5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3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A91D-4E4B-2969-7F8F-C1009EFA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E0938-0168-1D86-F833-38A5EF875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46545-3FCC-1D09-6590-1E4F65B98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C7353-366C-51AB-CDB2-E45356B8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4EC0C-7756-FC1E-F91E-3FC8116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A57DC-95D8-7B9A-16E8-2B8E1BB7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9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EB98-5F03-3AF6-F9D4-F0BB722A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37276-85D5-2CDF-80F7-EA745E14B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13505-0F4A-4E48-1963-87114E2BF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EBB81-62CE-C90F-64AB-1DEF4784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73EB5-46B4-13D1-F632-AE6D214BA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DC9EB-B7AD-C84C-4897-B5CEA8D3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3E03B-ED70-AF3E-1C4B-7E4B34D4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F1723-6209-EC7F-2CB7-A6B7E49A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9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D4AE-11D7-9956-22BF-36A0BCBC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E66FA-B0A8-BCBE-3171-65C0CBEF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F8631-52DE-FE8E-DDF2-04ABF307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DD0C1-9919-FB69-2AB1-0C195B2E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4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7FF32-6D51-0513-BC93-8970120A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553-B3D8-A50D-6790-1705E465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3DCCA-7BD1-1C80-A834-D36FED0F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8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F49-3CB3-36ED-A1F3-A06F4239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48CB6-5AEC-8861-0E19-F83F5D0A8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09D37-BB6C-EEF2-538A-75975BFB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B46D4-84BC-7B01-5DBF-41807E4D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6F1D4-62F2-6A17-1D54-0F8D42D8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C4E14-0952-D799-F74D-11BBED6E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6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31FE-BBA3-2CAA-212C-EEB1592A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92DD4-766B-19EA-B645-87EB7A63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E1CEA-56A1-3A70-4297-DFB375524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A7A09-F0EB-E7F0-7E56-9349663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1C4A4-7BB6-2026-1ED1-9949A7DB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E69BE-DDBE-B875-02D5-76C52BAE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6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4B83-31BF-9C22-F19C-A615A3CE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2FFE2-B32B-4D59-57B4-F60E4F2EB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697C8-569E-631B-F95B-79B44628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4F7F7-8343-9209-F6D9-29016555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F6541-9790-B7D9-3A6F-AE7977E5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2DC1E-D179-06B4-5B23-049829E99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8B221-F50C-A488-3C6F-FA09C838D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5553D-6D0D-C23B-DE41-A9047972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C2C9-EEAD-51C4-C826-32179EC6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C5F6A-2EB9-DC27-5CF4-4A027C65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5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E0FD2-B5CC-A1B9-DD28-2DEC1149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5361D-83EF-19F0-048C-E46F6D386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BBD36-B294-B674-3457-B12A885F0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07F04-D78D-FE4B-9C1A-A421FF33C3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15C8-E0DC-9DAB-4216-8097E43CC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E77F9-C94E-225B-0445-F6A463E5A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8545F-141A-354C-8B9A-BB50BF92F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4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C7DF-9EAE-5CB7-3DDF-D7D995893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7B229-A555-1DC4-8363-95254CDA9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93BC3-FCE0-70BB-1851-E8FC491E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4"/>
            <a:ext cx="12195244" cy="6856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453B3C-5D46-F269-7085-A4405D4315C3}"/>
              </a:ext>
            </a:extLst>
          </p:cNvPr>
          <p:cNvSpPr/>
          <p:nvPr/>
        </p:nvSpPr>
        <p:spPr>
          <a:xfrm>
            <a:off x="242047" y="215153"/>
            <a:ext cx="6401124" cy="28255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/>
              <a:t>SCB</a:t>
            </a:r>
          </a:p>
          <a:p>
            <a:pPr algn="ctr"/>
            <a:r>
              <a:rPr lang="en-SG" sz="4000" b="1" dirty="0"/>
              <a:t>AI-Powered Value at Risk Market Data Quality </a:t>
            </a:r>
          </a:p>
          <a:p>
            <a:pPr algn="ctr"/>
            <a:r>
              <a:rPr lang="en-SG" sz="4000" b="1" dirty="0"/>
              <a:t>Control Cockpit</a:t>
            </a:r>
          </a:p>
        </p:txBody>
      </p:sp>
    </p:spTree>
    <p:extLst>
      <p:ext uri="{BB962C8B-B14F-4D97-AF65-F5344CB8AC3E}">
        <p14:creationId xmlns:p14="http://schemas.microsoft.com/office/powerpoint/2010/main" val="400492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1503FF-BF4D-C8AD-46B2-58E4E0F5100E}"/>
              </a:ext>
            </a:extLst>
          </p:cNvPr>
          <p:cNvSpPr/>
          <p:nvPr/>
        </p:nvSpPr>
        <p:spPr>
          <a:xfrm>
            <a:off x="319489" y="1097708"/>
            <a:ext cx="11457542" cy="556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FDA84-C90C-1989-2536-F7FABD9C8AC8}"/>
              </a:ext>
            </a:extLst>
          </p:cNvPr>
          <p:cNvSpPr txBox="1"/>
          <p:nvPr/>
        </p:nvSpPr>
        <p:spPr>
          <a:xfrm>
            <a:off x="176270" y="194228"/>
            <a:ext cx="11600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600" dirty="0"/>
              <a:t>Today, we’re demonstrating an </a:t>
            </a:r>
            <a:r>
              <a:rPr lang="en-SG" sz="1600" b="1" dirty="0"/>
              <a:t>AI-powered Market Data Quality Control Cockpit</a:t>
            </a:r>
            <a:r>
              <a:rPr lang="en-SG" sz="1600" dirty="0"/>
              <a:t> for Market Risk. Our pilot focuses on </a:t>
            </a:r>
            <a:r>
              <a:rPr lang="en-SG" sz="1600" b="1" dirty="0">
                <a:highlight>
                  <a:srgbClr val="FFFF00"/>
                </a:highlight>
              </a:rPr>
              <a:t>FX market data</a:t>
            </a:r>
            <a:r>
              <a:rPr lang="en-SG" sz="1600" dirty="0"/>
              <a:t>, helping risk analysts automatically detect, prioritise, and investigate market data quality issues before they impact valuations, VaR calculations, and trading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F45E3-4FC5-A0D5-5EBD-58D8FB296A24}"/>
              </a:ext>
            </a:extLst>
          </p:cNvPr>
          <p:cNvSpPr txBox="1"/>
          <p:nvPr/>
        </p:nvSpPr>
        <p:spPr>
          <a:xfrm>
            <a:off x="3553858" y="1169907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MARKET RISK CONTROL COCKPIT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2D310-DFA2-7A37-6F55-2FA2742186D2}"/>
              </a:ext>
            </a:extLst>
          </p:cNvPr>
          <p:cNvSpPr txBox="1"/>
          <p:nvPr/>
        </p:nvSpPr>
        <p:spPr>
          <a:xfrm>
            <a:off x="3553858" y="1545872"/>
            <a:ext cx="4158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Detect • Prioritise • Explain • Investigate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BA4B1-DD32-81AC-2FC3-B085AEE64199}"/>
              </a:ext>
            </a:extLst>
          </p:cNvPr>
          <p:cNvSpPr/>
          <p:nvPr/>
        </p:nvSpPr>
        <p:spPr>
          <a:xfrm>
            <a:off x="989683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1. MARKET DATA SOURCES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B7BB2-A03A-ED48-7A00-8DCD6B560ABD}"/>
              </a:ext>
            </a:extLst>
          </p:cNvPr>
          <p:cNvSpPr txBox="1"/>
          <p:nvPr/>
        </p:nvSpPr>
        <p:spPr>
          <a:xfrm>
            <a:off x="989683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Reuters  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Bloomberg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Internal Market Data Feed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Exchange Prices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Reference Data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Historical Market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78F420-AD11-70FC-2DCD-28249B3C516E}"/>
              </a:ext>
            </a:extLst>
          </p:cNvPr>
          <p:cNvSpPr/>
          <p:nvPr/>
        </p:nvSpPr>
        <p:spPr>
          <a:xfrm>
            <a:off x="353396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2. DATA QUALITY VALIDATION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11630C-A71C-F196-4E95-8F4CEE70D3A2}"/>
              </a:ext>
            </a:extLst>
          </p:cNvPr>
          <p:cNvSpPr txBox="1"/>
          <p:nvPr/>
        </p:nvSpPr>
        <p:spPr>
          <a:xfrm>
            <a:off x="353396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Stale Prices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Feed Latency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Vendor Price Mismatch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Large Price Movement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Missing or Invalid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E5460-25D6-D94F-AA63-1B2EDB68A5A5}"/>
              </a:ext>
            </a:extLst>
          </p:cNvPr>
          <p:cNvSpPr/>
          <p:nvPr/>
        </p:nvSpPr>
        <p:spPr>
          <a:xfrm>
            <a:off x="6344951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3. AI ANOMALY DETECTION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14021-6014-2A88-C911-40B6CEE984A2}"/>
              </a:ext>
            </a:extLst>
          </p:cNvPr>
          <p:cNvSpPr txBox="1"/>
          <p:nvPr/>
        </p:nvSpPr>
        <p:spPr>
          <a:xfrm>
            <a:off x="6344951" y="2663744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Detect unusual market behaviour</a:t>
            </a:r>
          </a:p>
          <a:p>
            <a:r>
              <a:rPr lang="en-SG" dirty="0"/>
              <a:t>Learn historical patterns</a:t>
            </a:r>
          </a:p>
          <a:p>
            <a:r>
              <a:rPr lang="en-SG" dirty="0"/>
              <a:t>Identify anomalies missed by static rules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0AE5E-DCB3-9B94-9804-CB506E578B46}"/>
              </a:ext>
            </a:extLst>
          </p:cNvPr>
          <p:cNvSpPr/>
          <p:nvPr/>
        </p:nvSpPr>
        <p:spPr>
          <a:xfrm>
            <a:off x="8772487" y="2067191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4. MARKET CONTEXT ENRICHMENT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E07475-0208-1BA8-5F55-DCD66CB40A80}"/>
              </a:ext>
            </a:extLst>
          </p:cNvPr>
          <p:cNvSpPr txBox="1"/>
          <p:nvPr/>
        </p:nvSpPr>
        <p:spPr>
          <a:xfrm>
            <a:off x="8772487" y="2675873"/>
            <a:ext cx="18288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Market Scenario</a:t>
            </a:r>
          </a:p>
          <a:p>
            <a:r>
              <a:rPr lang="en-SG" dirty="0"/>
              <a:t>Trading Session</a:t>
            </a:r>
          </a:p>
          <a:p>
            <a:r>
              <a:rPr lang="en-SG" dirty="0"/>
              <a:t>Related Risk Factors</a:t>
            </a:r>
          </a:p>
          <a:p>
            <a:r>
              <a:rPr lang="en-SG" dirty="0"/>
              <a:t>Market Volatility</a:t>
            </a:r>
          </a:p>
          <a:p>
            <a:r>
              <a:rPr lang="en-SG" dirty="0"/>
              <a:t>Vendor Agreement</a:t>
            </a:r>
          </a:p>
          <a:p>
            <a:r>
              <a:rPr lang="en-SG" dirty="0"/>
              <a:t>Historical Alert Patterns</a:t>
            </a:r>
          </a:p>
          <a:p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0FEC68-E80A-C0A4-EADE-B8F0F20F1620}"/>
              </a:ext>
            </a:extLst>
          </p:cNvPr>
          <p:cNvSpPr/>
          <p:nvPr/>
        </p:nvSpPr>
        <p:spPr>
          <a:xfrm>
            <a:off x="7738581" y="44965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5. BUSINESS IMPACT PRIORITISATION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775B9E-D731-1704-9536-322246073EE9}"/>
              </a:ext>
            </a:extLst>
          </p:cNvPr>
          <p:cNvSpPr txBox="1"/>
          <p:nvPr/>
        </p:nvSpPr>
        <p:spPr>
          <a:xfrm>
            <a:off x="7738581" y="5105275"/>
            <a:ext cx="18288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SG" dirty="0"/>
              <a:t>VaR Impact</a:t>
            </a:r>
          </a:p>
          <a:p>
            <a:r>
              <a:rPr lang="en-SG" dirty="0"/>
              <a:t>Trading Exposure</a:t>
            </a:r>
          </a:p>
          <a:p>
            <a:r>
              <a:rPr lang="en-SG" dirty="0"/>
              <a:t>Estimated P&amp;L Impact</a:t>
            </a:r>
          </a:p>
          <a:p>
            <a:r>
              <a:rPr lang="en-SG" dirty="0"/>
              <a:t>Portfolio Criticality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03D381-F359-C6A5-9455-F3916D5DFFEF}"/>
              </a:ext>
            </a:extLst>
          </p:cNvPr>
          <p:cNvSpPr/>
          <p:nvPr/>
        </p:nvSpPr>
        <p:spPr>
          <a:xfrm>
            <a:off x="7757861" y="5936272"/>
            <a:ext cx="1828800" cy="608682"/>
          </a:xfrm>
          <a:prstGeom prst="rect">
            <a:avLst/>
          </a:prstGeom>
          <a:solidFill>
            <a:srgbClr val="007B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Rank alerts from Highest to Lowest Business Risk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9A9C2E-EA48-583D-FCD0-F3F5E6F96F06}"/>
              </a:ext>
            </a:extLst>
          </p:cNvPr>
          <p:cNvSpPr/>
          <p:nvPr/>
        </p:nvSpPr>
        <p:spPr>
          <a:xfrm>
            <a:off x="5287024" y="4521993"/>
            <a:ext cx="1828800" cy="60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6. GENERATIVE AI INVESTIGATION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5E671C-7380-E3B3-5C4F-DABF69DAC47E}"/>
              </a:ext>
            </a:extLst>
          </p:cNvPr>
          <p:cNvSpPr txBox="1"/>
          <p:nvPr/>
        </p:nvSpPr>
        <p:spPr>
          <a:xfrm>
            <a:off x="5287024" y="5130675"/>
            <a:ext cx="1828800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pPr marL="0" indent="0">
              <a:buNone/>
            </a:pPr>
            <a:r>
              <a:rPr lang="en-SG" dirty="0"/>
              <a:t>Explain:</a:t>
            </a:r>
          </a:p>
          <a:p>
            <a:r>
              <a:rPr lang="en-SG" dirty="0"/>
              <a:t>What happened</a:t>
            </a:r>
          </a:p>
          <a:p>
            <a:r>
              <a:rPr lang="en-SG" dirty="0"/>
              <a:t>Why is it suspicious?</a:t>
            </a:r>
          </a:p>
          <a:p>
            <a:r>
              <a:rPr lang="en-SG" dirty="0"/>
              <a:t>Business Impact</a:t>
            </a:r>
          </a:p>
          <a:p>
            <a:r>
              <a:rPr lang="en-SG" dirty="0"/>
              <a:t>Posible Root Cause</a:t>
            </a:r>
          </a:p>
          <a:p>
            <a:r>
              <a:rPr lang="en-SG" dirty="0"/>
              <a:t>Recommended Next Action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E27552-EDFA-4C37-4959-D692F85E02B2}"/>
              </a:ext>
            </a:extLst>
          </p:cNvPr>
          <p:cNvSpPr/>
          <p:nvPr/>
        </p:nvSpPr>
        <p:spPr>
          <a:xfrm>
            <a:off x="2619567" y="4545029"/>
            <a:ext cx="1828800" cy="60868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/>
              <a:t>7. ANALYST COCKPIT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930964-C3A6-CD7A-537D-DFADD56DC820}"/>
              </a:ext>
            </a:extLst>
          </p:cNvPr>
          <p:cNvSpPr txBox="1"/>
          <p:nvPr/>
        </p:nvSpPr>
        <p:spPr>
          <a:xfrm>
            <a:off x="2511542" y="5247861"/>
            <a:ext cx="2425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200" dirty="0"/>
              <a:t>│  📊 Dashboard                </a:t>
            </a:r>
          </a:p>
          <a:p>
            <a:pPr>
              <a:buNone/>
            </a:pPr>
            <a:r>
              <a:rPr lang="en-SG" sz="1200" dirty="0"/>
              <a:t>│  🚨 Prioritised Alerts                     </a:t>
            </a:r>
          </a:p>
          <a:p>
            <a:pPr>
              <a:buNone/>
            </a:pPr>
            <a:r>
              <a:rPr lang="en-SG" sz="1200" dirty="0"/>
              <a:t>│  🤖 AI Assessment    </a:t>
            </a:r>
          </a:p>
          <a:p>
            <a:pPr>
              <a:buNone/>
            </a:pPr>
            <a:r>
              <a:rPr lang="en-SG" sz="1200" dirty="0"/>
              <a:t>│  📝 Investigation Report                  </a:t>
            </a:r>
          </a:p>
          <a:p>
            <a:pPr>
              <a:buNone/>
            </a:pPr>
            <a:r>
              <a:rPr lang="en-SG" sz="1200" dirty="0"/>
              <a:t>│  ✔ Human Decision &amp; Audit Trail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5128504-3B46-1B32-1FFE-9F61A09A4413}"/>
              </a:ext>
            </a:extLst>
          </p:cNvPr>
          <p:cNvSpPr/>
          <p:nvPr/>
        </p:nvSpPr>
        <p:spPr>
          <a:xfrm>
            <a:off x="3035300" y="2663744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9525EB77-BB8C-BCE1-0CA5-9ED8F0DAC93B}"/>
              </a:ext>
            </a:extLst>
          </p:cNvPr>
          <p:cNvSpPr/>
          <p:nvPr/>
        </p:nvSpPr>
        <p:spPr>
          <a:xfrm>
            <a:off x="5645534" y="2675873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D51E192-7A19-97CD-0EB9-8D1F0DEA6A8A}"/>
              </a:ext>
            </a:extLst>
          </p:cNvPr>
          <p:cNvSpPr/>
          <p:nvPr/>
        </p:nvSpPr>
        <p:spPr>
          <a:xfrm>
            <a:off x="8365169" y="2539505"/>
            <a:ext cx="21590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Bent Up Arrow 30">
            <a:extLst>
              <a:ext uri="{FF2B5EF4-FFF2-40B4-BE49-F238E27FC236}">
                <a16:creationId xmlns:a16="http://schemas.microsoft.com/office/drawing/2014/main" id="{CA5D9B5E-D3F6-7449-BCCE-F174998AF667}"/>
              </a:ext>
            </a:extLst>
          </p:cNvPr>
          <p:cNvSpPr/>
          <p:nvPr/>
        </p:nvSpPr>
        <p:spPr>
          <a:xfrm rot="5400000" flipV="1">
            <a:off x="9760864" y="4474174"/>
            <a:ext cx="685800" cy="58935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BCE40E8D-F78B-296D-C548-E674C0D95D08}"/>
              </a:ext>
            </a:extLst>
          </p:cNvPr>
          <p:cNvSpPr/>
          <p:nvPr/>
        </p:nvSpPr>
        <p:spPr>
          <a:xfrm flipH="1">
            <a:off x="7340702" y="4800934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AF3870D-AD4F-97F6-7FA8-8D2A9B8DC7A6}"/>
              </a:ext>
            </a:extLst>
          </p:cNvPr>
          <p:cNvSpPr/>
          <p:nvPr/>
        </p:nvSpPr>
        <p:spPr>
          <a:xfrm flipH="1">
            <a:off x="4877752" y="4854215"/>
            <a:ext cx="192280" cy="12169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9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54D796-06A6-FC44-92F9-B99E17CAA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2" y="570436"/>
            <a:ext cx="5967874" cy="2491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85E67-7396-F890-E87F-16357FBCC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70436"/>
            <a:ext cx="5967875" cy="2491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16BE69-AD9D-A79F-35E3-6755BC59D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520" y="3062023"/>
            <a:ext cx="7203827" cy="299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6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024869-AECB-8C16-0DBE-A24AD2FA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336550"/>
            <a:ext cx="7772400" cy="3232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F0BAEE-1C7B-1ABE-BA9F-066A16D0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75" y="3429000"/>
            <a:ext cx="7772400" cy="323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4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CF98A-0148-E30D-DA4B-4320E243FDB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Today’s demonstration focuses on </a:t>
            </a:r>
            <a:r>
              <a:rPr lang="en-US" sz="1500" b="1" dirty="0"/>
              <a:t>FX market</a:t>
            </a:r>
            <a:r>
              <a:rPr lang="en-US" sz="1500" dirty="0"/>
              <a:t> data because it allowed us to validate the complete end-to-end workflow. However, the platform has been designed as a reusable control framework. By introducing asset-specific deterministic rules and connecting additional market data feeds, the same cockpit can monitor </a:t>
            </a:r>
            <a:r>
              <a:rPr lang="en-US" sz="1500" b="1" dirty="0"/>
              <a:t>fixed income, equities, commodities, derivatives, credit markets</a:t>
            </a:r>
            <a:r>
              <a:rPr lang="en-US" sz="1500" dirty="0"/>
              <a:t>, and even calculated risk metrics such as </a:t>
            </a:r>
            <a:r>
              <a:rPr lang="en-US" sz="1500" dirty="0" err="1"/>
              <a:t>VaR</a:t>
            </a:r>
            <a:r>
              <a:rPr lang="en-US" sz="1500" dirty="0"/>
              <a:t> or Expected Shortfall. This enables a single AI-powered control platform for enterprise-wide market data governance.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222FA-AF65-0048-E709-FFD29F01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45180"/>
            <a:ext cx="6903720" cy="536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8B140-6EE7-90DD-6E10-B25C6E32A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21390"/>
              </p:ext>
            </p:extLst>
          </p:nvPr>
        </p:nvGraphicFramePr>
        <p:xfrm>
          <a:off x="643467" y="720010"/>
          <a:ext cx="10905067" cy="541798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243252">
                  <a:extLst>
                    <a:ext uri="{9D8B030D-6E8A-4147-A177-3AD203B41FA5}">
                      <a16:colId xmlns:a16="http://schemas.microsoft.com/office/drawing/2014/main" val="3475398518"/>
                    </a:ext>
                  </a:extLst>
                </a:gridCol>
                <a:gridCol w="3701667">
                  <a:extLst>
                    <a:ext uri="{9D8B030D-6E8A-4147-A177-3AD203B41FA5}">
                      <a16:colId xmlns:a16="http://schemas.microsoft.com/office/drawing/2014/main" val="2754645956"/>
                    </a:ext>
                  </a:extLst>
                </a:gridCol>
                <a:gridCol w="4960148">
                  <a:extLst>
                    <a:ext uri="{9D8B030D-6E8A-4147-A177-3AD203B41FA5}">
                      <a16:colId xmlns:a16="http://schemas.microsoft.com/office/drawing/2014/main" val="2053906769"/>
                    </a:ext>
                  </a:extLst>
                </a:gridCol>
              </a:tblGrid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Capability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Hackathon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Proposed Production Implementation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069219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Data Source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Synthetic FX market data (Reuters/Bloomberg simulation in CSV)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market data from Reuters, Bloomberg, ICE, exchanges, or internal market data platforms via streaming APIs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35794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Data Processing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 (Pandas) in Google Colab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Databricks, Apache Spark, Azure Data Factory, or Kafka Streams for scalable real-time processing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8811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Rule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Python-based deterministic validation rules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Business Rules Engine (e.g., Drools) or centrally managed configurable rule service integrated with market data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97307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AI Anomaly Detection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Isolation Forest (Scikit-learn)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ML, Databricks ML, or enterprise MLOps platform with continuous monitoring, retraining, and model governance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134240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Market Context Enrichment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Simulated scenarios and derived context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Live economic calendars, market news, volatility indices, reference data, peer asset movements, and macro event feeds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5665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Business Impact Engine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 dirty="0">
                          <a:solidFill>
                            <a:schemeClr val="tx1"/>
                          </a:solidFill>
                          <a:effectLst/>
                        </a:rPr>
                        <a:t>Python calculations using synthetic exposures, P&amp;L, and VaR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Market Risk systems  using live positions and risk measures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1863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Generative AI Investigation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OpenAI GPT API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OpenAI or approved enterprise LLM with Responsible AI controls, prompt governance, audit logging, and human approval workflow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68375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Dashboard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Streamlit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React/Angular web application with Power BI, Grafana, or internal enterprise dashboard framework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37262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Alert Storage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CSV files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database (Azure SQL, PostgreSQL, Cosmos DB) with full audit trail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242669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Workflow &amp; Case Management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review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Integration with ServiceNow, or enterprise incident management platforms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880508"/>
                  </a:ext>
                </a:extLst>
              </a:tr>
              <a:tr h="289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Authentication &amp; Security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None (prototype)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Enterprise IAM (Azure AD/Entra ID), RBAC, MFA, encryption, and full audit logging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13818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Deployment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Google Colab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Kubernetes Service (AKS), Azure App Service, OpenShift, or bank-approved cloud platform with CI/CD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071861"/>
                  </a:ext>
                </a:extLst>
              </a:tr>
              <a:tr h="441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b="1" cap="none" spc="0">
                          <a:solidFill>
                            <a:schemeClr val="tx1"/>
                          </a:solidFill>
                          <a:effectLst/>
                        </a:rPr>
                        <a:t>Monitoring &amp; Observability</a:t>
                      </a:r>
                      <a:endParaRPr lang="en-SG" sz="10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5094" marR="16336" marT="50072" marB="500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Manual execution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000" cap="none" spc="0">
                          <a:solidFill>
                            <a:schemeClr val="tx1"/>
                          </a:solidFill>
                          <a:effectLst/>
                        </a:rPr>
                        <a:t>Azure Monitor, Datadog, Splunk, Prometheus/Grafana, automated alerting, and operational dashboards</a:t>
                      </a:r>
                    </a:p>
                  </a:txBody>
                  <a:tcPr marL="65094" marR="16336" marT="50072" marB="500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75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628</Words>
  <Application>Microsoft Macintosh PowerPoint</Application>
  <PresentationFormat>Widescreen</PresentationFormat>
  <Paragraphs>92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Debabrata Pruseth</dc:creator>
  <cp:lastModifiedBy>Debabrata Pruseth</cp:lastModifiedBy>
  <cp:revision>5</cp:revision>
  <dcterms:created xsi:type="dcterms:W3CDTF">2026-07-19T03:10:49Z</dcterms:created>
  <dcterms:modified xsi:type="dcterms:W3CDTF">2026-07-20T02:57:06Z</dcterms:modified>
</cp:coreProperties>
</file>